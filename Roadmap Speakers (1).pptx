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22"/>
  </p:notesMasterIdLst>
  <p:sldIdLst>
    <p:sldId id="266" r:id="rId6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blic Speaking Block" id="{41D738C0-9C13-4AEB-8972-36EE973A4451}">
          <p14:sldIdLst>
            <p14:sldId id="266"/>
            <p14:sldId id="263"/>
          </p14:sldIdLst>
        </p14:section>
        <p14:section name="Introduction" id="{3056642D-C81C-4D39-BC7C-ADBABE8F0521}">
          <p14:sldIdLst>
            <p14:sldId id="257"/>
            <p14:sldId id="258"/>
            <p14:sldId id="277"/>
          </p14:sldIdLst>
        </p14:section>
        <p14:section name="Live Drill 1" id="{A23131FD-9D97-4C95-BC89-83310B3E426C}">
          <p14:sldIdLst>
            <p14:sldId id="261"/>
            <p14:sldId id="262"/>
          </p14:sldIdLst>
        </p14:section>
        <p14:section name="Live Drill 2" id="{A27A0CE6-C355-44C3-BC63-3F6AF62276E9}">
          <p14:sldIdLst>
            <p14:sldId id="267"/>
            <p14:sldId id="265"/>
          </p14:sldIdLst>
        </p14:section>
        <p14:section name="Client Management Block" id="{1C9AAEB2-58A1-421B-963A-3613CEA6F902}">
          <p14:sldIdLst>
            <p14:sldId id="268"/>
            <p14:sldId id="270"/>
            <p14:sldId id="271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16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63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Atmikha: https://www.linkedin.com/in/atmikha ; https://www.linkedin.com/posts/atmikha_indianauniversity-artificialintelligence-activity-7459790567535706112-l9kt ; Photo: user-provided LinkedIn screenshot</a:t>
            </a:r>
          </a:p>
          <a:p>
            <a:r>
              <a:t>Anushka: https://www.linkedin.com/in/anushka-dave ; Photo: user-provided LinkedIn screenshot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C36C-FE7D-9CC4-D8FC-5A69FB62A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F314A-D7D8-0DFA-2DA4-EBF9A473A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00B7E-69F0-0A6D-B833-C24D8743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9BEBA2-3DD4-468A-81C5-C046503E030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3825E-C1BE-E0C0-8B03-35C2FC21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AC2BD-23F1-C663-FFA8-AAAB0CC7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0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5EB0-8059-EB7F-B864-8D780BAA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CCB6-3497-D6FC-03F7-D6597A9FC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70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1C16-2614-4210-3BF1-37ABA6B9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5B262-1BA0-1E21-4EB7-90A45242C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97CCC-608F-C4CA-AD51-03930F8D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982146-E37F-4501-A082-F61F995636F8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B77F-7BEC-C863-E122-2FC56A97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A6D06-DD57-7D33-A228-A67D8A0C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4E62-788F-6B5E-28AD-E654A07E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022F-34E6-85BD-445C-8C11355B1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CD4E9-6385-ECE9-0589-DA070BBDE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BCEF3-6F67-4A4B-EA58-5EC45825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15D1D1-0F6A-41B7-9392-77161F693A46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732A6-61E6-C0AC-293E-0E44BE5D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78E0D-6425-D8B6-FB3B-E4B32310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5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4881-7FF3-75C7-114B-F989C3B6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B39A0-407F-D713-F2A7-81AA933C2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19CF6-9AFF-632D-3A91-37D8BD76D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488CF-7131-63D0-D257-347552CA5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5F612-10B9-9ECD-F367-206745BFD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EF05B-F964-E8B5-96EA-893A79EB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83E58-E8E2-4729-AE56-82EC2505343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90C8E-5B82-FA4C-249B-5AD16477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805DD-FE77-3E8C-C6F1-C465B9A2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53FC-0DC4-B6A2-A552-0399B70A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B9B40-4642-473A-E8E5-6CC7112C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68044F-05BB-4AB7-BF78-10F5BB7C82DE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89A61-9FE4-980C-E931-DF8EAA4F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5BFE8-B40D-262D-3BB1-FB01BFA7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9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9247E-3EA3-A28B-8444-4AE1D7DC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DFD8D6-3810-4D84-844A-BD2D8C6B2BE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0C55A-2337-DC2E-0041-516FEC25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601EF-412B-F236-FEEC-4CB773B1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2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ACAF-A18C-3907-3E12-1E43007B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C0079-B291-13AB-6AC4-948A39E44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38219-5FA4-62C5-93DE-2F857F57E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833DA-6D14-B279-DF2B-6E730453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775983-698D-40C0-AB28-5D78981C08CB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F2CC6-6086-E74A-D196-DFBF68BA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E3BA7-6C32-2F44-DC8D-722885C6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4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281A-E37E-F979-F821-419AEB97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C82BD-6630-3633-37C6-6164E4E83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C716A-B94C-5F1E-5251-07942B38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A6FFE-B88C-2702-1532-915D81EE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78B495-3969-4440-910F-F17255B97506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C89CB-38BB-4E99-E502-D3358245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F738C-0407-1AB9-3510-700634C0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1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2CEA-795B-672E-374E-EF7AABD1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27B19-145D-ED0E-F870-BC4A67CA3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C16CC-5A4F-6980-07BA-AF223158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D63A41-91D5-423F-B48E-3408797344B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958A-4FEE-C449-1FA5-DF542F23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CED9-4EC9-01B0-A213-C040FFDA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68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904B6-40B4-C471-E059-B9928FA9D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CE4D8-A396-6EE8-A1D3-96DF5418C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D92DC-2C8F-1125-A2D2-0245E567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87AEFC-9EAA-4B71-8731-EBC34A95C8EA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D2842-CE0E-B136-3658-1339E639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8D8A-0458-5E95-CB2B-0B98153D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110036-0AAC-499B-B7BC-6F035643A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041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67E43-B24D-7974-7DA4-BB496C39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50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Relationship Id="rId7" Type="http://schemas.openxmlformats.org/officeDocument/2006/relationships/image" Target="../media/image11.svg"/><Relationship Id="rId8" Type="http://schemas.openxmlformats.org/officeDocument/2006/relationships/image" Target="../media/image12.svg"/><Relationship Id="rId9" Type="http://schemas.openxmlformats.org/officeDocument/2006/relationships/image" Target="../media/image13.svg"/><Relationship Id="rId10" Type="http://schemas.openxmlformats.org/officeDocument/2006/relationships/image" Target="../media/image3.jpg"/><Relationship Id="rId11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0.svg"/><Relationship Id="rId7" Type="http://schemas.openxmlformats.org/officeDocument/2006/relationships/image" Target="../media/image11.svg"/><Relationship Id="rId8" Type="http://schemas.openxmlformats.org/officeDocument/2006/relationships/image" Target="../media/image12.sv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097E3A7-E63E-C40B-E4BD-F60CD2638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9" t="5867" r="32408" b="15467"/>
          <a:stretch>
            <a:fillRect/>
          </a:stretch>
        </p:blipFill>
        <p:spPr>
          <a:xfrm>
            <a:off x="7342632" y="274320"/>
            <a:ext cx="4849368" cy="64739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22EC8AA-B3D1-5CB7-4C50-DE935A9B7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0" t="18792" r="11193" b="29363"/>
          <a:stretch>
            <a:fillRect/>
          </a:stretch>
        </p:blipFill>
        <p:spPr>
          <a:xfrm>
            <a:off x="372996" y="210312"/>
            <a:ext cx="1023240" cy="93268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309BCE8-3BA9-39C2-9EA1-E5223E239060}"/>
              </a:ext>
            </a:extLst>
          </p:cNvPr>
          <p:cNvSpPr txBox="1"/>
          <p:nvPr/>
        </p:nvSpPr>
        <p:spPr>
          <a:xfrm>
            <a:off x="372995" y="1645920"/>
            <a:ext cx="7756121" cy="1078992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Georgia Pro"/>
              </a:rPr>
              <a:t>Roadmap Speakers</a:t>
            </a:r>
            <a:endParaRPr lang="en-US" sz="4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63238F-8A6E-6B59-1703-27B307DAB2CA}"/>
              </a:ext>
            </a:extLst>
          </p:cNvPr>
          <p:cNvSpPr txBox="1"/>
          <p:nvPr/>
        </p:nvSpPr>
        <p:spPr>
          <a:xfrm>
            <a:off x="479105" y="3319272"/>
            <a:ext cx="6629400" cy="400110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0">
                <a:solidFill>
                  <a:srgbClr val="FFFFFF"/>
                </a:solidFill>
                <a:latin typeface="Calibri"/>
              </a:rPr>
              <a:t>Atmikha Jeeju  ·  Anushka Dave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FA5589-EC30-7E00-F0C1-5C9B099FBF8B}"/>
              </a:ext>
            </a:extLst>
          </p:cNvPr>
          <p:cNvSpPr txBox="1"/>
          <p:nvPr/>
        </p:nvSpPr>
        <p:spPr>
          <a:xfrm>
            <a:off x="475488" y="4096512"/>
            <a:ext cx="6126480" cy="338554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 b="0">
                <a:solidFill>
                  <a:srgbClr val="FFFFFF"/>
                </a:solidFill>
                <a:latin typeface="Calibri"/>
              </a:rPr>
              <a:t>Aperture Partners  ·  Indiana University</a:t>
            </a:r>
          </a:p>
        </p:txBody>
      </p:sp>
    </p:spTree>
    <p:extLst>
      <p:ext uri="{BB962C8B-B14F-4D97-AF65-F5344CB8AC3E}">
        <p14:creationId xmlns:p14="http://schemas.microsoft.com/office/powerpoint/2010/main" val="70181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87BD677-3055-B379-9F30-359275BAE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6" t="21272" r="11382" b="22572"/>
          <a:stretch>
            <a:fillRect/>
          </a:stretch>
        </p:blipFill>
        <p:spPr>
          <a:xfrm>
            <a:off x="11271292" y="155275"/>
            <a:ext cx="638355" cy="59375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5B09788-C56B-3FBD-D05B-C50B9BD4300A}"/>
              </a:ext>
            </a:extLst>
          </p:cNvPr>
          <p:cNvSpPr/>
          <p:nvPr/>
        </p:nvSpPr>
        <p:spPr>
          <a:xfrm>
            <a:off x="-9728" y="291830"/>
            <a:ext cx="194553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B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768210-900E-501E-E4BF-5056888A653D}"/>
              </a:ext>
            </a:extLst>
          </p:cNvPr>
          <p:cNvSpPr txBox="1"/>
          <p:nvPr/>
        </p:nvSpPr>
        <p:spPr>
          <a:xfrm>
            <a:off x="212532" y="243431"/>
            <a:ext cx="1774887" cy="276999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r>
              <a:rPr sz="1200" b="0">
                <a:solidFill>
                  <a:srgbClr val="B8B8B8"/>
                </a:solidFill>
                <a:latin typeface="Calibri"/>
              </a:rPr>
              <a:t>GUEST SPEAKERS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30BD68-657B-9374-917C-F792E5F08E3C}"/>
              </a:ext>
            </a:extLst>
          </p:cNvPr>
          <p:cNvSpPr txBox="1"/>
          <p:nvPr/>
        </p:nvSpPr>
        <p:spPr>
          <a:xfrm>
            <a:off x="212532" y="452152"/>
            <a:ext cx="11305235" cy="369332"/>
          </a:xfrm>
          <a:prstGeom prst="rect">
            <a:avLst/>
          </a:prstGeom>
          <a:noFill/>
        </p:spPr>
        <p:txBody>
          <a:bodyPr wrap="square" rtlCol="0" lIns="9144" rIns="9144" tIns="9144" bIns="9144">
            <a:spAutoFit/>
          </a:bodyPr>
          <a:lstStyle/>
          <a:p>
            <a:r>
              <a:rPr sz="2000" b="1">
                <a:solidFill>
                  <a:srgbClr val="0C1017"/>
                </a:solidFill>
                <a:latin typeface="Georgia Pro"/>
              </a:rPr>
              <a:t>Meet the speakers</a:t>
            </a:r>
          </a:p>
        </p:txBody>
      </p:sp>
      <p:pic>
        <p:nvPicPr>
          <p:cNvPr id="34" name="Picture 33" descr="1000018955.jpg"/>
          <p:cNvPicPr>
            <a:picLocks noChangeAspect="1"/>
          </p:cNvPicPr>
          <p:nvPr/>
        </p:nvPicPr>
        <p:blipFill>
          <a:blip r:embed="rId10"/>
          <a:srcRect l="23272" r="23131" t="39388" b="35872"/>
          <a:stretch>
            <a:fillRect/>
          </a:stretch>
        </p:blipFill>
        <p:spPr>
          <a:xfrm>
            <a:off x="2199132" y="1508760"/>
            <a:ext cx="1828800" cy="1828800"/>
          </a:xfrm>
          <a:prstGeom prst="ellipse">
            <a:avLst/>
          </a:prstGeom>
        </p:spPr>
      </p:pic>
      <p:pic>
        <p:nvPicPr>
          <p:cNvPr id="35" name="Picture 34" descr="1000018957.jpg"/>
          <p:cNvPicPr>
            <a:picLocks noChangeAspect="1"/>
          </p:cNvPicPr>
          <p:nvPr/>
        </p:nvPicPr>
        <p:blipFill>
          <a:blip r:embed="rId11"/>
          <a:srcRect l="23272" r="23131" t="39388" b="35872"/>
          <a:stretch>
            <a:fillRect/>
          </a:stretch>
        </p:blipFill>
        <p:spPr>
          <a:xfrm>
            <a:off x="8179308" y="1508760"/>
            <a:ext cx="1828800" cy="1828800"/>
          </a:xfrm>
          <a:prstGeom prst="ellipse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3504" y="3694176"/>
            <a:ext cx="502920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3100" b="1">
                <a:solidFill>
                  <a:srgbClr val="0C1017"/>
                </a:solidFill>
                <a:latin typeface="Georgia Pro"/>
              </a:rPr>
              <a:t>Atmikha Jeeju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4416552"/>
            <a:ext cx="5120640" cy="4023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00" b="0">
                <a:solidFill>
                  <a:srgbClr val="0C1017"/>
                </a:solidFill>
                <a:latin typeface="Calibri"/>
              </a:rPr>
              <a:t>M.S. Information Systems  ·  Kelley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5020056"/>
            <a:ext cx="512064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545961"/>
                </a:solidFill>
                <a:latin typeface="Calibri"/>
              </a:rPr>
              <a:t>B.S. Computer Science, AI specialization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694176"/>
            <a:ext cx="521208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3100" b="1">
                <a:solidFill>
                  <a:srgbClr val="0C1017"/>
                </a:solidFill>
                <a:latin typeface="Georgia Pro"/>
              </a:rPr>
              <a:t>Anushka Dave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16552"/>
            <a:ext cx="5212080" cy="4023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00" b="0">
                <a:solidFill>
                  <a:srgbClr val="0C1017"/>
                </a:solidFill>
                <a:latin typeface="Calibri"/>
              </a:rPr>
              <a:t>B.S. Informatics  ·  IU Luddy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20056"/>
            <a:ext cx="5212080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545961"/>
                </a:solidFill>
                <a:latin typeface="Calibri"/>
              </a:rPr>
              <a:t>Business and cybersecurity minors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5769864"/>
            <a:ext cx="5120640" cy="402336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/>
            <a:r>
              <a:rPr sz="1800">
                <a:solidFill>
                  <a:srgbClr val="545961"/>
                </a:solidFill>
                <a:latin typeface="Calibri"/>
              </a:rPr>
              <a:t>Previously at ServiceNow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69864"/>
            <a:ext cx="5212080" cy="402336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/>
            <a:r>
              <a:rPr sz="1800">
                <a:solidFill>
                  <a:srgbClr val="545961"/>
                </a:solidFill>
                <a:latin typeface="Calibri"/>
              </a:rPr>
              <a:t>Previously at 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87BD677-3055-B379-9F30-359275BAE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6" t="21272" r="11382" b="22572"/>
          <a:stretch>
            <a:fillRect/>
          </a:stretch>
        </p:blipFill>
        <p:spPr>
          <a:xfrm>
            <a:off x="11271292" y="155275"/>
            <a:ext cx="638355" cy="59375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5B09788-C56B-3FBD-D05B-C50B9BD4300A}"/>
              </a:ext>
            </a:extLst>
          </p:cNvPr>
          <p:cNvSpPr/>
          <p:nvPr/>
        </p:nvSpPr>
        <p:spPr>
          <a:xfrm>
            <a:off x="-9728" y="291830"/>
            <a:ext cx="194553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B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768210-900E-501E-E4BF-5056888A653D}"/>
              </a:ext>
            </a:extLst>
          </p:cNvPr>
          <p:cNvSpPr txBox="1"/>
          <p:nvPr/>
        </p:nvSpPr>
        <p:spPr>
          <a:xfrm>
            <a:off x="212532" y="243431"/>
            <a:ext cx="1774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B8B8B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30BD68-657B-9374-917C-F792E5F08E3C}"/>
              </a:ext>
            </a:extLst>
          </p:cNvPr>
          <p:cNvSpPr txBox="1"/>
          <p:nvPr/>
        </p:nvSpPr>
        <p:spPr>
          <a:xfrm>
            <a:off x="212532" y="452152"/>
            <a:ext cx="1130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40915"/>
                </a:solidFill>
                <a:latin typeface="Georgia Pro" pitchFamily="34" charset="0"/>
                <a:ea typeface="Georgia Pro" pitchFamily="34" charset="-122"/>
                <a:cs typeface="Georgia Pro" pitchFamily="34" charset="-120"/>
              </a:rPr>
              <a:t>What problems could come up?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1124712"/>
            <a:ext cx="10972800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0B0F17"/>
                </a:solidFill>
                <a:latin typeface="Georgia Pro"/>
              </a:rPr>
              <a:t>Where did our changes go?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2084831"/>
            <a:ext cx="299008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0B0F17"/>
                </a:solidFill>
                <a:latin typeface="Calibri"/>
              </a:rPr>
              <a:t>Email copies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77056" y="2084831"/>
            <a:ext cx="7516368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>
                <a:solidFill>
                  <a:srgbClr val="0B0F17"/>
                </a:solidFill>
                <a:latin typeface="Calibri"/>
              </a:rPr>
              <a:t>Someone edits an older copy. Two versions both seem current.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" y="3172968"/>
            <a:ext cx="11155680" cy="14630"/>
          </a:xfrm>
          <a:prstGeom prst="rect">
            <a:avLst/>
          </a:prstGeom>
          <a:solidFill>
            <a:srgbClr val="D5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3438144"/>
            <a:ext cx="299008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0B0F17"/>
                </a:solidFill>
                <a:latin typeface="Calibri"/>
              </a:rPr>
              <a:t>One shared folder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6" y="3438144"/>
            <a:ext cx="7516368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>
                <a:solidFill>
                  <a:srgbClr val="0B0F17"/>
                </a:solidFill>
                <a:latin typeface="Calibri"/>
              </a:rPr>
              <a:t>One person can overwrite another person’s work.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4526279"/>
            <a:ext cx="11155680" cy="14630"/>
          </a:xfrm>
          <a:prstGeom prst="rect">
            <a:avLst/>
          </a:prstGeom>
          <a:solidFill>
            <a:srgbClr val="D5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4791456"/>
            <a:ext cx="299008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1">
                <a:solidFill>
                  <a:srgbClr val="0B0F17"/>
                </a:solidFill>
                <a:latin typeface="Calibri"/>
              </a:rPr>
              <a:t>Chat snippets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7056" y="4791456"/>
            <a:ext cx="7516368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>
                <a:solidFill>
                  <a:srgbClr val="0B0F17"/>
                </a:solidFill>
                <a:latin typeface="Calibri"/>
              </a:rPr>
              <a:t>The conversation is not a reliable history of the project.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63056"/>
            <a:ext cx="108813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1">
                <a:solidFill>
                  <a:srgbClr val="0B0F17"/>
                </a:solidFill>
                <a:latin typeface="Calibri"/>
              </a:rPr>
              <a:t>Which version would you trust?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A256002295A44838FF0B547CFFC2F" ma:contentTypeVersion="16" ma:contentTypeDescription="Create a new document." ma:contentTypeScope="" ma:versionID="31339b8afcbac9b16a0de87f3f4385f5">
  <xsd:schema xmlns:xsd="http://www.w3.org/2001/XMLSchema" xmlns:xs="http://www.w3.org/2001/XMLSchema" xmlns:p="http://schemas.microsoft.com/office/2006/metadata/properties" xmlns:ns2="2f5a5deb-7881-4468-9cb5-7b9388dd485e" xmlns:ns3="65256119-e166-4736-ad4a-6d3901d75df0" targetNamespace="http://schemas.microsoft.com/office/2006/metadata/properties" ma:root="true" ma:fieldsID="fce5206ffaa3b4e26bd76872a5553991" ns2:_="" ns3:_="">
    <xsd:import namespace="2f5a5deb-7881-4468-9cb5-7b9388dd485e"/>
    <xsd:import namespace="65256119-e166-4736-ad4a-6d3901d75d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a5deb-7881-4468-9cb5-7b9388dd4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2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56119-e166-4736-ad4a-6d3901d75df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d26d27d-fbe5-4044-b812-ffc7677aa3b2}" ma:internalName="TaxCatchAll" ma:showField="CatchAllData" ma:web="65256119-e166-4736-ad4a-6d3901d75d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5a5deb-7881-4468-9cb5-7b9388dd485e" xsi:nil="true"/>
    <TaxCatchAll xmlns="65256119-e166-4736-ad4a-6d3901d75df0"/>
  </documentManagement>
</p:properties>
</file>

<file path=customXml/itemProps1.xml><?xml version="1.0" encoding="utf-8"?>
<ds:datastoreItem xmlns:ds="http://schemas.openxmlformats.org/officeDocument/2006/customXml" ds:itemID="{244E999A-50C0-4B8B-974D-FA6CBB1604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D7FC10-8FA1-4D4D-9825-F21F7B7F5673}">
  <ds:schemaRefs>
    <ds:schemaRef ds:uri="2f5a5deb-7881-4468-9cb5-7b9388dd485e"/>
    <ds:schemaRef ds:uri="65256119-e166-4736-ad4a-6d3901d75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0998D-95D9-410C-BAEE-08A447878CAE}">
  <ds:schemaRefs>
    <ds:schemaRef ds:uri="http://schemas.microsoft.com/office/2006/documentManagement/types"/>
    <ds:schemaRef ds:uri="http://purl.org/dc/elements/1.1/"/>
    <ds:schemaRef ds:uri="65256119-e166-4736-ad4a-6d3901d75df0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2f5a5deb-7881-4468-9cb5-7b9388dd485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2808</Words>
  <Application>Microsoft Office PowerPoint</Application>
  <PresentationFormat>Widescreen</PresentationFormat>
  <Paragraphs>265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Kumar, Vyom</cp:lastModifiedBy>
  <cp:revision>2</cp:revision>
  <cp:lastPrinted>2026-08-05T20:06:52Z</cp:lastPrinted>
  <dcterms:created xsi:type="dcterms:W3CDTF">2026-08-02T20:28:40Z</dcterms:created>
  <dcterms:modified xsi:type="dcterms:W3CDTF">2026-09-26T13:17:07Z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0x0101007A4A256002295A44838FF0B547CFFC2F</vt:lpwstr>
  </property>
</Properties>
</file>